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592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6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896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1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9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8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2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6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2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D11ACAB-E5EC-484D-B71E-EAB61592499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373206D-1002-4BED-A373-A8E5C9725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06B8-1A61-AEF5-B40A-7B4825649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15730"/>
          </a:xfrm>
        </p:spPr>
        <p:txBody>
          <a:bodyPr/>
          <a:lstStyle/>
          <a:p>
            <a:r>
              <a:rPr lang="en-US" b="1" dirty="0"/>
              <a:t>Telecom Customer Churn &amp; Revenue Risk Analysis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2E8DB-E26D-CB22-60F3-58C4A6FA78F3}"/>
              </a:ext>
            </a:extLst>
          </p:cNvPr>
          <p:cNvSpPr txBox="1"/>
          <p:nvPr/>
        </p:nvSpPr>
        <p:spPr>
          <a:xfrm>
            <a:off x="838200" y="2680855"/>
            <a:ext cx="5070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Intelligence &amp; Customer Retention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3EAFB-FD14-0B1B-D8AF-6A85FF92EB42}"/>
              </a:ext>
            </a:extLst>
          </p:cNvPr>
          <p:cNvSpPr txBox="1"/>
          <p:nvPr/>
        </p:nvSpPr>
        <p:spPr>
          <a:xfrm>
            <a:off x="838200" y="3723501"/>
            <a:ext cx="2663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Mawadda Hassan</a:t>
            </a:r>
          </a:p>
          <a:p>
            <a:r>
              <a:rPr lang="en-US" dirty="0"/>
              <a:t>Tools Used:</a:t>
            </a:r>
          </a:p>
          <a:p>
            <a:r>
              <a:rPr lang="en-US" dirty="0"/>
              <a:t>SQL, Power BI, Excel</a:t>
            </a:r>
          </a:p>
        </p:txBody>
      </p:sp>
    </p:spTree>
    <p:extLst>
      <p:ext uri="{BB962C8B-B14F-4D97-AF65-F5344CB8AC3E}">
        <p14:creationId xmlns:p14="http://schemas.microsoft.com/office/powerpoint/2010/main" val="284374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2B5E-35A6-7E53-5991-1E2B25FF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DABE-BBBF-5810-1D36-AF4B7EF0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4CF6-AE6D-4D2F-EDEE-22F71F65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 churn directly impacts recurring revenue and long-term profitability. The company observed significant customer attrition and required an analysis to:</a:t>
            </a:r>
          </a:p>
          <a:p>
            <a:r>
              <a:rPr lang="en-US" dirty="0"/>
              <a:t>Understand churn behavior</a:t>
            </a:r>
          </a:p>
          <a:p>
            <a:r>
              <a:rPr lang="en-US" dirty="0"/>
              <a:t>Identify high-risk customer segments</a:t>
            </a:r>
          </a:p>
          <a:p>
            <a:r>
              <a:rPr lang="en-US" dirty="0"/>
              <a:t>Quantify revenue impact</a:t>
            </a:r>
          </a:p>
          <a:p>
            <a:r>
              <a:rPr lang="en-US" dirty="0"/>
              <a:t>Recommend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802002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4649-9F72-4989-A129-0301CAE9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FC0E5-EDB3-97EC-72C2-934A6AAC3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7" y="11951"/>
            <a:ext cx="11149446" cy="67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6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5CF1-C6C9-E8AD-B238-F1C221E1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2030-D26B-DE37-116B-E4426C36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23315-4206-92A2-5B92-966F3F1C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project aimed to answer five key questions:</a:t>
            </a:r>
          </a:p>
          <a:p>
            <a:pPr marL="342900" indent="-342900">
              <a:buAutoNum type="arabicPeriod"/>
            </a:pPr>
            <a:r>
              <a:rPr lang="en-GB" dirty="0"/>
              <a:t>What is the overall churn rate?</a:t>
            </a:r>
          </a:p>
          <a:p>
            <a:pPr marL="342900" indent="-342900">
              <a:buAutoNum type="arabicPeriod"/>
            </a:pPr>
            <a:r>
              <a:rPr lang="en-GB" dirty="0"/>
              <a:t>Which customer groups churn most frequently?</a:t>
            </a:r>
          </a:p>
          <a:p>
            <a:pPr marL="342900" indent="-342900">
              <a:buAutoNum type="arabicPeriod"/>
            </a:pPr>
            <a:r>
              <a:rPr lang="en-GB" dirty="0"/>
              <a:t>Which services are associated with churn?</a:t>
            </a:r>
          </a:p>
          <a:p>
            <a:pPr marL="342900" indent="-342900">
              <a:buAutoNum type="arabicPeriod"/>
            </a:pPr>
            <a:r>
              <a:rPr lang="en-GB" dirty="0"/>
              <a:t>How much revenue is at risk?</a:t>
            </a:r>
          </a:p>
          <a:p>
            <a:pPr marL="342900" indent="-342900">
              <a:buAutoNum type="arabicPeriod"/>
            </a:pPr>
            <a:r>
              <a:rPr lang="en-GB" dirty="0"/>
              <a:t>What actions can reduce churn?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24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5EE56-DD8E-A0CA-4B53-0C14DC94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834E-C8FE-C3AB-77CD-C6F8B8AA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D57AA-909C-AD44-CF6E-EAC916F00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Data Collection</a:t>
            </a:r>
          </a:p>
          <a:p>
            <a:pPr marL="0" indent="0" algn="ctr">
              <a:buNone/>
            </a:pPr>
            <a:r>
              <a:rPr lang="en-US" b="1" dirty="0"/>
              <a:t>        ↓</a:t>
            </a:r>
          </a:p>
          <a:p>
            <a:pPr marL="0" indent="0" algn="ctr">
              <a:buNone/>
            </a:pPr>
            <a:r>
              <a:rPr lang="en-US" b="1" dirty="0"/>
              <a:t>Data Cleaning</a:t>
            </a:r>
          </a:p>
          <a:p>
            <a:pPr marL="0" indent="0" algn="ctr">
              <a:buNone/>
            </a:pPr>
            <a:r>
              <a:rPr lang="en-US" b="1" dirty="0"/>
              <a:t>        ↓</a:t>
            </a:r>
          </a:p>
          <a:p>
            <a:pPr marL="0" indent="0" algn="ctr">
              <a:buNone/>
            </a:pPr>
            <a:r>
              <a:rPr lang="en-US" b="1" dirty="0"/>
              <a:t>SQL Analysis</a:t>
            </a:r>
          </a:p>
          <a:p>
            <a:pPr marL="0" indent="0" algn="ctr">
              <a:buNone/>
            </a:pPr>
            <a:r>
              <a:rPr lang="en-US" b="1" dirty="0"/>
              <a:t>        ↓</a:t>
            </a:r>
          </a:p>
          <a:p>
            <a:pPr marL="0" indent="0" algn="ctr">
              <a:buNone/>
            </a:pPr>
            <a:r>
              <a:rPr lang="en-US" b="1" dirty="0"/>
              <a:t>KPI Development</a:t>
            </a:r>
          </a:p>
          <a:p>
            <a:pPr marL="0" indent="0" algn="ctr">
              <a:buNone/>
            </a:pPr>
            <a:r>
              <a:rPr lang="en-US" b="1" dirty="0"/>
              <a:t>        ↓</a:t>
            </a:r>
          </a:p>
          <a:p>
            <a:pPr marL="0" indent="0" algn="ctr">
              <a:buNone/>
            </a:pPr>
            <a:r>
              <a:rPr lang="en-US" b="1" dirty="0"/>
              <a:t>Power BI Dashboard</a:t>
            </a:r>
          </a:p>
          <a:p>
            <a:pPr marL="0" indent="0" algn="ctr">
              <a:buNone/>
            </a:pPr>
            <a:r>
              <a:rPr lang="en-US" b="1" dirty="0"/>
              <a:t>        ↓</a:t>
            </a:r>
          </a:p>
          <a:p>
            <a:pPr marL="0" indent="0" algn="ctr">
              <a:buNone/>
            </a:pPr>
            <a:r>
              <a:rPr lang="en-US" b="1" dirty="0"/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CDACB-30B0-D354-BA8C-B2EC934D5BAC}"/>
              </a:ext>
            </a:extLst>
          </p:cNvPr>
          <p:cNvSpPr txBox="1"/>
          <p:nvPr/>
        </p:nvSpPr>
        <p:spPr>
          <a:xfrm>
            <a:off x="8406247" y="6088559"/>
            <a:ext cx="30945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Dataset: IBM Telco Customer Churn Techniques:• Data Cleaning• Customer Segmentation• KPI Analysis• Revenue Impact Assessment</a:t>
            </a:r>
          </a:p>
        </p:txBody>
      </p:sp>
    </p:spTree>
    <p:extLst>
      <p:ext uri="{BB962C8B-B14F-4D97-AF65-F5344CB8AC3E}">
        <p14:creationId xmlns:p14="http://schemas.microsoft.com/office/powerpoint/2010/main" val="3248093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7651-CBC6-0C3C-9348-BC4ED060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8E18-E69F-1694-4523-D3FF847E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D89BF-D0B2-27B4-A989-E724C6BA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Overall churn rate: 26.5%</a:t>
            </a:r>
          </a:p>
          <a:p>
            <a:r>
              <a:rPr lang="en-GB" dirty="0"/>
              <a:t>Month-to-month customers exhibited the highest churn rates.</a:t>
            </a:r>
          </a:p>
          <a:p>
            <a:r>
              <a:rPr lang="en-GB" dirty="0"/>
              <a:t>Most churn occurred within the first  12 months of service.</a:t>
            </a:r>
          </a:p>
          <a:p>
            <a:r>
              <a:rPr lang="en-GB" dirty="0"/>
              <a:t>Electronic check customers churned more frequently than other payment groups.</a:t>
            </a:r>
          </a:p>
          <a:p>
            <a:r>
              <a:rPr lang="en-GB" dirty="0"/>
              <a:t>Fiber optic customers showed elevated churn levels.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9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FFB7-06D0-089B-9C38-52FF3647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4D343-441B-E2D9-5C49-C8546AC67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313" y="883227"/>
            <a:ext cx="9593286" cy="560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7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7FDA-0763-7BBE-CB46-990F83B7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F960-02BF-8E25-D241-01042C09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5E962-4D3A-FB2B-86BB-3A9A1D476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Revenue Lost from Churn:</a:t>
            </a:r>
          </a:p>
          <a:p>
            <a:pPr marL="0" indent="0">
              <a:buNone/>
            </a:pPr>
            <a:r>
              <a:rPr lang="en-GB" dirty="0"/>
              <a:t>$139K</a:t>
            </a:r>
          </a:p>
          <a:p>
            <a:pPr marL="0" indent="0">
              <a:buNone/>
            </a:pPr>
            <a:r>
              <a:rPr lang="en-GB" dirty="0"/>
              <a:t>Monthly Revenue:</a:t>
            </a:r>
          </a:p>
          <a:p>
            <a:pPr marL="0" indent="0">
              <a:buNone/>
            </a:pPr>
            <a:r>
              <a:rPr lang="en-GB" dirty="0"/>
              <a:t>$456K</a:t>
            </a:r>
          </a:p>
          <a:p>
            <a:pPr marL="0" indent="0">
              <a:buNone/>
            </a:pPr>
            <a:r>
              <a:rPr lang="en-GB" dirty="0"/>
              <a:t>Percentage of Revenue at Risk:</a:t>
            </a:r>
          </a:p>
          <a:p>
            <a:pPr marL="0" indent="0">
              <a:buNone/>
            </a:pPr>
            <a:r>
              <a:rPr lang="en-GB" dirty="0"/>
              <a:t>30.5%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7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004-FBAB-84A9-B00F-48FEEC24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582B-979C-73EA-D25E-598E1DE8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82BED-6D9A-D71D-763E-77162BDD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1. Increase adoption of long-term contracts.</a:t>
            </a:r>
          </a:p>
          <a:p>
            <a:pPr marL="0" indent="0">
              <a:buNone/>
            </a:pPr>
            <a:r>
              <a:rPr lang="en-GB" dirty="0"/>
              <a:t>Reason:</a:t>
            </a:r>
          </a:p>
          <a:p>
            <a:pPr marL="0" indent="0">
              <a:buNone/>
            </a:pPr>
            <a:r>
              <a:rPr lang="en-GB" dirty="0"/>
              <a:t>Month-to-month customers showed the highest churn levels.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GB" dirty="0"/>
              <a:t>Improve onboarding during the first year.</a:t>
            </a:r>
          </a:p>
          <a:p>
            <a:pPr marL="0" indent="0">
              <a:buNone/>
            </a:pPr>
            <a:r>
              <a:rPr lang="en-GB" dirty="0"/>
              <a:t>Reason:</a:t>
            </a:r>
          </a:p>
          <a:p>
            <a:pPr marL="0" indent="0">
              <a:buNone/>
            </a:pPr>
            <a:r>
              <a:rPr lang="en-GB" dirty="0"/>
              <a:t>Most churn occurs within the first 12 months.</a:t>
            </a:r>
          </a:p>
          <a:p>
            <a:pPr marL="0" indent="0">
              <a:buNone/>
            </a:pPr>
            <a:r>
              <a:rPr lang="en-GB" dirty="0"/>
              <a:t>3. Investigate electronic check user experience.</a:t>
            </a:r>
          </a:p>
          <a:p>
            <a:pPr marL="0" indent="0">
              <a:buNone/>
            </a:pPr>
            <a:r>
              <a:rPr lang="en-GB" dirty="0"/>
              <a:t>Reason:</a:t>
            </a:r>
          </a:p>
          <a:p>
            <a:pPr marL="0" indent="0">
              <a:buNone/>
            </a:pPr>
            <a:r>
              <a:rPr lang="en-GB" dirty="0"/>
              <a:t>This segment exhibited elevated churn.</a:t>
            </a:r>
          </a:p>
          <a:p>
            <a:pPr marL="0" indent="0">
              <a:buNone/>
            </a:pPr>
            <a:r>
              <a:rPr lang="en-GB" dirty="0"/>
              <a:t>4. Conduct service quality reviews for </a:t>
            </a:r>
            <a:r>
              <a:rPr lang="en-GB" dirty="0" err="1"/>
              <a:t>fiber</a:t>
            </a:r>
            <a:r>
              <a:rPr lang="en-GB" dirty="0"/>
              <a:t> optic customers.</a:t>
            </a:r>
          </a:p>
          <a:p>
            <a:pPr marL="0" indent="0">
              <a:buNone/>
            </a:pPr>
            <a:r>
              <a:rPr lang="en-GB" dirty="0"/>
              <a:t>Reason:</a:t>
            </a:r>
          </a:p>
          <a:p>
            <a:pPr marL="0" indent="0">
              <a:buNone/>
            </a:pPr>
            <a:r>
              <a:rPr lang="en-GB" dirty="0"/>
              <a:t>Higher churn was observed in this group.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4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68363-2FC0-C50B-58F7-C9E67DFF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950E-21AB-C15C-9C34-B4D75D31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B7CAC-39BF-A855-B5FD-905A2449C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analysis identified key churn drivers, quantified revenue risk, and provided actionable recommendations to improve customer retention. Expected Benefits:</a:t>
            </a:r>
          </a:p>
          <a:p>
            <a:pPr marL="0" indent="0">
              <a:buNone/>
            </a:pPr>
            <a:r>
              <a:rPr lang="en-GB" dirty="0"/>
              <a:t>• Reduced customer attrition</a:t>
            </a:r>
          </a:p>
          <a:p>
            <a:pPr marL="0" indent="0">
              <a:buNone/>
            </a:pPr>
            <a:r>
              <a:rPr lang="en-GB" dirty="0"/>
              <a:t>• Increased revenue retention</a:t>
            </a:r>
          </a:p>
          <a:p>
            <a:pPr marL="0" indent="0">
              <a:buNone/>
            </a:pPr>
            <a:r>
              <a:rPr lang="en-GB" dirty="0"/>
              <a:t>• Improved customer satisfaction</a:t>
            </a:r>
          </a:p>
          <a:p>
            <a:pPr marL="0" indent="0">
              <a:buNone/>
            </a:pPr>
            <a:r>
              <a:rPr lang="en-GB" dirty="0"/>
              <a:t>• Better targeting of retention campaigns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38067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26</TotalTime>
  <Words>338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View</vt:lpstr>
      <vt:lpstr>Telecom Customer Churn &amp; Revenue Risk Analysis</vt:lpstr>
      <vt:lpstr>Business Problem</vt:lpstr>
      <vt:lpstr>PowerPoint Presentation</vt:lpstr>
      <vt:lpstr>Project Objectives</vt:lpstr>
      <vt:lpstr>Methodology</vt:lpstr>
      <vt:lpstr>Key Findings</vt:lpstr>
      <vt:lpstr>PowerPoint Presentation</vt:lpstr>
      <vt:lpstr>Revenue Impact</vt:lpstr>
      <vt:lpstr>Recommendations</vt:lpstr>
      <vt:lpstr>Business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Mawadda Haj</dc:creator>
  <cp:lastModifiedBy>Mawadda Haj</cp:lastModifiedBy>
  <cp:revision>8</cp:revision>
  <dcterms:created xsi:type="dcterms:W3CDTF">2026-06-04T18:56:23Z</dcterms:created>
  <dcterms:modified xsi:type="dcterms:W3CDTF">2026-06-04T19:23:10Z</dcterms:modified>
</cp:coreProperties>
</file>